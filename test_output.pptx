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1554480"/>
          </a:xfrm>
          <a:prstGeom prst="rect">
            <a:avLst/>
          </a:prstGeom>
          <a:solidFill>
            <a:srgbClr val="172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5486400" cy="365760"/>
          </a:xfrm>
          <a:prstGeom prst="rect">
            <a:avLst/>
          </a:prstGeom>
          <a:noFill/>
        </p:spPr>
        <p:txBody>
          <a:bodyPr wrap="none">
            <a:spAutoFit/>
          </a:bodyPr>
          <a:lstStyle/>
          <a:p>
            <a:r>
              <a:rPr sz="1100" b="1" i="0">
                <a:solidFill>
                  <a:srgbClr val="06B6D4"/>
                </a:solidFill>
              </a:rPr>
              <a:t>INDUSTRY INTELLIGENCE REPORT</a:t>
            </a:r>
          </a:p>
        </p:txBody>
      </p:sp>
      <p:sp>
        <p:nvSpPr>
          <p:cNvPr id="5" name="TextBox 4"/>
          <p:cNvSpPr txBox="1"/>
          <p:nvPr/>
        </p:nvSpPr>
        <p:spPr>
          <a:xfrm>
            <a:off x="548640" y="1097280"/>
            <a:ext cx="10972800" cy="1645920"/>
          </a:xfrm>
          <a:prstGeom prst="rect">
            <a:avLst/>
          </a:prstGeom>
          <a:noFill/>
        </p:spPr>
        <p:txBody>
          <a:bodyPr wrap="square">
            <a:spAutoFit/>
          </a:bodyPr>
          <a:lstStyle/>
          <a:p>
            <a:pPr algn="l"/>
            <a:r>
              <a:rPr sz="4800" b="1">
                <a:solidFill>
                  <a:srgbClr val="FFFFFF"/>
                </a:solidFill>
              </a:rPr>
              <a:t>FMCG M&amp;A Intelligence</a:t>
            </a:r>
          </a:p>
        </p:txBody>
      </p:sp>
      <p:sp>
        <p:nvSpPr>
          <p:cNvPr id="6" name="TextBox 5"/>
          <p:cNvSpPr txBox="1"/>
          <p:nvPr/>
        </p:nvSpPr>
        <p:spPr>
          <a:xfrm>
            <a:off x="548640" y="2743200"/>
            <a:ext cx="9144000" cy="548640"/>
          </a:xfrm>
          <a:prstGeom prst="rect">
            <a:avLst/>
          </a:prstGeom>
          <a:noFill/>
        </p:spPr>
        <p:txBody>
          <a:bodyPr wrap="none">
            <a:spAutoFit/>
          </a:bodyPr>
          <a:lstStyle/>
          <a:p>
            <a:r>
              <a:rPr sz="3600" b="0">
                <a:solidFill>
                  <a:srgbClr val="3B82F6"/>
                </a:solidFill>
              </a:rPr>
              <a:t>Newsletter</a:t>
            </a:r>
          </a:p>
        </p:txBody>
      </p:sp>
      <p:sp>
        <p:nvSpPr>
          <p:cNvPr id="7" name="TextBox 6"/>
          <p:cNvSpPr txBox="1"/>
          <p:nvPr/>
        </p:nvSpPr>
        <p:spPr>
          <a:xfrm>
            <a:off x="548640" y="3657600"/>
            <a:ext cx="7315200" cy="365760"/>
          </a:xfrm>
          <a:prstGeom prst="rect">
            <a:avLst/>
          </a:prstGeom>
          <a:noFill/>
        </p:spPr>
        <p:txBody>
          <a:bodyPr wrap="none">
            <a:spAutoFit/>
          </a:bodyPr>
          <a:lstStyle/>
          <a:p>
            <a:r>
              <a:rPr sz="1300">
                <a:solidFill>
                  <a:srgbClr val="ABBDE3"/>
                </a:solidFill>
              </a:rPr>
              <a:t>Period: April 2026  ·  Powered by LangGraph + Claude Sonnet</a:t>
            </a:r>
          </a:p>
        </p:txBody>
      </p:sp>
      <p:sp>
        <p:nvSpPr>
          <p:cNvPr id="8" name="TextBox 7"/>
          <p:cNvSpPr txBox="1"/>
          <p:nvPr/>
        </p:nvSpPr>
        <p:spPr>
          <a:xfrm>
            <a:off x="548640" y="4206240"/>
            <a:ext cx="3657600" cy="45720"/>
          </a:xfrm>
          <a:prstGeom prst="rect">
            <a:avLst/>
          </a:prstGeom>
          <a:noFill/>
        </p:spPr>
        <p:txBody>
          <a:bodyPr wrap="none">
            <a:spAutoFit/>
          </a:bodyPr>
          <a:lstStyle/>
          <a:p>
            <a:r>
              <a:rPr sz="1000">
                <a:solidFill>
                  <a:srgbClr val="3B82F6"/>
                </a:solidFill>
              </a:rPr>
              <a:t>────────────────────────────</a:t>
            </a:r>
          </a:p>
        </p:txBody>
      </p:sp>
      <p:sp>
        <p:nvSpPr>
          <p:cNvPr id="9" name="TextBox 8"/>
          <p:cNvSpPr txBox="1"/>
          <p:nvPr/>
        </p:nvSpPr>
        <p:spPr>
          <a:xfrm>
            <a:off x="548640" y="5577840"/>
            <a:ext cx="9144000" cy="320040"/>
          </a:xfrm>
          <a:prstGeom prst="rect">
            <a:avLst/>
          </a:prstGeom>
          <a:noFill/>
        </p:spPr>
        <p:txBody>
          <a:bodyPr wrap="none">
            <a:spAutoFit/>
          </a:bodyPr>
          <a:lstStyle/>
          <a:p>
            <a:r>
              <a:rPr sz="900">
                <a:solidFill>
                  <a:srgbClr val="8B9BC0"/>
                </a:solidFill>
              </a:rPr>
              <a:t>Run ID: 7379ef8e-de48-4e  ·  Confidential — For Internal 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5669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3657600" cy="320040"/>
          </a:xfrm>
          <a:prstGeom prst="rect">
            <a:avLst/>
          </a:prstGeom>
          <a:noFill/>
        </p:spPr>
        <p:txBody>
          <a:bodyPr wrap="none">
            <a:spAutoFit/>
          </a:bodyPr>
          <a:lstStyle/>
          <a:p>
            <a:r>
              <a:rPr sz="1000" b="1">
                <a:solidFill>
                  <a:srgbClr val="06B6D4"/>
                </a:solidFill>
              </a:rPr>
              <a:t>01  /  EXECUTIVE SUMMARY</a:t>
            </a:r>
          </a:p>
        </p:txBody>
      </p:sp>
      <p:sp>
        <p:nvSpPr>
          <p:cNvPr id="5" name="TextBox 4"/>
          <p:cNvSpPr txBox="1"/>
          <p:nvPr/>
        </p:nvSpPr>
        <p:spPr>
          <a:xfrm>
            <a:off x="457200" y="502920"/>
            <a:ext cx="10972800" cy="594360"/>
          </a:xfrm>
          <a:prstGeom prst="rect">
            <a:avLst/>
          </a:prstGeom>
          <a:noFill/>
        </p:spPr>
        <p:txBody>
          <a:bodyPr wrap="none">
            <a:spAutoFit/>
          </a:bodyPr>
          <a:lstStyle/>
          <a:p>
            <a:r>
              <a:rPr sz="2800" b="1">
                <a:solidFill>
                  <a:srgbClr val="FFFFFF"/>
                </a:solidFill>
              </a:rPr>
              <a:t>Market Snapshot</a:t>
            </a:r>
          </a:p>
        </p:txBody>
      </p:sp>
      <p:sp>
        <p:nvSpPr>
          <p:cNvPr id="6" name="Rectangle 5"/>
          <p:cNvSpPr/>
          <p:nvPr/>
        </p:nvSpPr>
        <p:spPr>
          <a:xfrm>
            <a:off x="457200" y="1417320"/>
            <a:ext cx="54864" cy="2560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80744"/>
            <a:ext cx="10789920" cy="411480"/>
          </a:xfrm>
          <a:prstGeom prst="rect">
            <a:avLst/>
          </a:prstGeom>
          <a:noFill/>
        </p:spPr>
        <p:txBody>
          <a:bodyPr wrap="square">
            <a:spAutoFit/>
          </a:bodyPr>
          <a:lstStyle/>
          <a:p>
            <a:r>
              <a:rPr sz="1400">
                <a:solidFill>
                  <a:srgbClr val="111827"/>
                </a:solidFill>
              </a:rPr>
              <a:t>This week saw key developments in the FMCG sector, with Associated British Foods engaging in merger talks with Endless LLP, the private equity owner of Hovis, while the food and beverage industry continues to witness an uptick in merger activities.</a:t>
            </a:r>
          </a:p>
        </p:txBody>
      </p:sp>
      <p:sp>
        <p:nvSpPr>
          <p:cNvPr id="8" name="Rectangle 7"/>
          <p:cNvSpPr/>
          <p:nvPr/>
        </p:nvSpPr>
        <p:spPr>
          <a:xfrm>
            <a:off x="457200" y="1984248"/>
            <a:ext cx="54864" cy="2560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10789920" cy="411480"/>
          </a:xfrm>
          <a:prstGeom prst="rect">
            <a:avLst/>
          </a:prstGeom>
          <a:noFill/>
        </p:spPr>
        <p:txBody>
          <a:bodyPr wrap="square">
            <a:spAutoFit/>
          </a:bodyPr>
          <a:lstStyle/>
          <a:p>
            <a:r>
              <a:rPr sz="1400">
                <a:solidFill>
                  <a:srgbClr val="111827"/>
                </a:solidFill>
              </a:rPr>
              <a:t>Analysts predict an ongoing trend of acquisitions as companies seek growth and market share.</a:t>
            </a:r>
          </a:p>
        </p:txBody>
      </p:sp>
      <p:sp>
        <p:nvSpPr>
          <p:cNvPr id="10" name="TextBox 9"/>
          <p:cNvSpPr txBox="1"/>
          <p:nvPr/>
        </p:nvSpPr>
        <p:spPr>
          <a:xfrm>
            <a:off x="9601200" y="6309360"/>
            <a:ext cx="2286000" cy="320040"/>
          </a:xfrm>
          <a:prstGeom prst="rect">
            <a:avLst/>
          </a:prstGeom>
          <a:noFill/>
        </p:spPr>
        <p:txBody>
          <a:bodyPr wrap="none">
            <a:spAutoFit/>
          </a:bodyPr>
          <a:lstStyle/>
          <a:p>
            <a:pPr algn="r"/>
            <a:r>
              <a:rPr sz="900">
                <a:solidFill>
                  <a:srgbClr val="6B7280"/>
                </a:solidFill>
              </a:rPr>
              <a:t>April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566928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3657600" cy="320040"/>
          </a:xfrm>
          <a:prstGeom prst="rect">
            <a:avLst/>
          </a:prstGeom>
          <a:noFill/>
        </p:spPr>
        <p:txBody>
          <a:bodyPr wrap="none">
            <a:spAutoFit/>
          </a:bodyPr>
          <a:lstStyle/>
          <a:p>
            <a:r>
              <a:rPr sz="1000" b="1">
                <a:solidFill>
                  <a:srgbClr val="06B6D4"/>
                </a:solidFill>
              </a:rPr>
              <a:t>02  /  TOP DEALS</a:t>
            </a:r>
          </a:p>
        </p:txBody>
      </p:sp>
      <p:sp>
        <p:nvSpPr>
          <p:cNvPr id="5" name="TextBox 4"/>
          <p:cNvSpPr txBox="1"/>
          <p:nvPr/>
        </p:nvSpPr>
        <p:spPr>
          <a:xfrm>
            <a:off x="457200" y="502920"/>
            <a:ext cx="10972800" cy="594360"/>
          </a:xfrm>
          <a:prstGeom prst="rect">
            <a:avLst/>
          </a:prstGeom>
          <a:noFill/>
        </p:spPr>
        <p:txBody>
          <a:bodyPr wrap="none">
            <a:spAutoFit/>
          </a:bodyPr>
          <a:lstStyle/>
          <a:p>
            <a:r>
              <a:rPr sz="2800" b="1">
                <a:solidFill>
                  <a:srgbClr val="FFFFFF"/>
                </a:solidFill>
              </a:rPr>
              <a:t>Key Transactions This Period</a:t>
            </a:r>
          </a:p>
        </p:txBody>
      </p:sp>
      <p:sp>
        <p:nvSpPr>
          <p:cNvPr id="6" name="Rectangle 5"/>
          <p:cNvSpPr/>
          <p:nvPr/>
        </p:nvSpPr>
        <p:spPr>
          <a:xfrm>
            <a:off x="365760" y="1325880"/>
            <a:ext cx="3657600" cy="210312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25880"/>
            <a:ext cx="3657600" cy="6400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63040"/>
            <a:ext cx="365760" cy="320040"/>
          </a:xfrm>
          <a:prstGeom prst="rect">
            <a:avLst/>
          </a:prstGeom>
          <a:noFill/>
        </p:spPr>
        <p:txBody>
          <a:bodyPr wrap="none">
            <a:spAutoFit/>
          </a:bodyPr>
          <a:lstStyle/>
          <a:p>
            <a:r>
              <a:rPr sz="1300" b="1">
                <a:solidFill>
                  <a:srgbClr val="3B82F6"/>
                </a:solidFill>
              </a:rPr>
              <a:t>01</a:t>
            </a:r>
          </a:p>
        </p:txBody>
      </p:sp>
      <p:sp>
        <p:nvSpPr>
          <p:cNvPr id="9" name="TextBox 8"/>
          <p:cNvSpPr txBox="1"/>
          <p:nvPr/>
        </p:nvSpPr>
        <p:spPr>
          <a:xfrm>
            <a:off x="502920" y="1783080"/>
            <a:ext cx="3383280" cy="1554480"/>
          </a:xfrm>
          <a:prstGeom prst="rect">
            <a:avLst/>
          </a:prstGeom>
          <a:noFill/>
        </p:spPr>
        <p:txBody>
          <a:bodyPr wrap="square">
            <a:spAutoFit/>
          </a:bodyPr>
          <a:lstStyle/>
          <a:p>
            <a:r>
              <a:rPr sz="1050">
                <a:solidFill>
                  <a:srgbClr val="111827"/>
                </a:solidFill>
              </a:rPr>
              <a:t>{'company': 'Associated British Foods (ABF)', 'partner': 'Endless LLP', 'type': 'Merger', 'value': 'Undisclosed', 'description': 'ABF, the owner of Kingsmill, is in discussions to </a:t>
            </a:r>
          </a:p>
        </p:txBody>
      </p:sp>
      <p:sp>
        <p:nvSpPr>
          <p:cNvPr id="10" name="Rectangle 9"/>
          <p:cNvSpPr/>
          <p:nvPr/>
        </p:nvSpPr>
        <p:spPr>
          <a:xfrm>
            <a:off x="4251960" y="1325880"/>
            <a:ext cx="3657600" cy="2103120"/>
          </a:xfrm>
          <a:prstGeom prst="rect">
            <a:avLst/>
          </a:prstGeom>
          <a:solidFill>
            <a:srgbClr val="FFFF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325880"/>
            <a:ext cx="3657600" cy="6400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463040"/>
            <a:ext cx="365760" cy="320040"/>
          </a:xfrm>
          <a:prstGeom prst="rect">
            <a:avLst/>
          </a:prstGeom>
          <a:noFill/>
        </p:spPr>
        <p:txBody>
          <a:bodyPr wrap="none">
            <a:spAutoFit/>
          </a:bodyPr>
          <a:lstStyle/>
          <a:p>
            <a:r>
              <a:rPr sz="1300" b="1">
                <a:solidFill>
                  <a:srgbClr val="3B82F6"/>
                </a:solidFill>
              </a:rPr>
              <a:t>02</a:t>
            </a:r>
          </a:p>
        </p:txBody>
      </p:sp>
      <p:sp>
        <p:nvSpPr>
          <p:cNvPr id="13" name="TextBox 12"/>
          <p:cNvSpPr txBox="1"/>
          <p:nvPr/>
        </p:nvSpPr>
        <p:spPr>
          <a:xfrm>
            <a:off x="4389120" y="1783080"/>
            <a:ext cx="3383280" cy="1554480"/>
          </a:xfrm>
          <a:prstGeom prst="rect">
            <a:avLst/>
          </a:prstGeom>
          <a:noFill/>
        </p:spPr>
        <p:txBody>
          <a:bodyPr wrap="square">
            <a:spAutoFit/>
          </a:bodyPr>
          <a:lstStyle/>
          <a:p>
            <a:r>
              <a:rPr sz="1050">
                <a:solidFill>
                  <a:srgbClr val="111827"/>
                </a:solidFill>
              </a:rPr>
              <a:t>{'company': 'Kraft Heinz', 'partner': 'Princes', 'type': 'Acquisition', 'value': 'Undisclosed', 'description': 'This acquisition adds to Kraft Heinz’s portfolio, enhancing its pres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5669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4572000" cy="320040"/>
          </a:xfrm>
          <a:prstGeom prst="rect">
            <a:avLst/>
          </a:prstGeom>
          <a:noFill/>
        </p:spPr>
        <p:txBody>
          <a:bodyPr wrap="none">
            <a:spAutoFit/>
          </a:bodyPr>
          <a:lstStyle/>
          <a:p>
            <a:r>
              <a:rPr sz="1000" b="1">
                <a:solidFill>
                  <a:srgbClr val="06B6D4"/>
                </a:solidFill>
              </a:rPr>
              <a:t>03  /  SECTOR BREAKDOWN</a:t>
            </a:r>
          </a:p>
        </p:txBody>
      </p:sp>
      <p:sp>
        <p:nvSpPr>
          <p:cNvPr id="5" name="TextBox 4"/>
          <p:cNvSpPr txBox="1"/>
          <p:nvPr/>
        </p:nvSpPr>
        <p:spPr>
          <a:xfrm>
            <a:off x="457200" y="502920"/>
            <a:ext cx="10972800" cy="594360"/>
          </a:xfrm>
          <a:prstGeom prst="rect">
            <a:avLst/>
          </a:prstGeom>
          <a:noFill/>
        </p:spPr>
        <p:txBody>
          <a:bodyPr wrap="none">
            <a:spAutoFit/>
          </a:bodyPr>
          <a:lstStyle/>
          <a:p>
            <a:r>
              <a:rPr sz="2800" b="1">
                <a:solidFill>
                  <a:srgbClr val="FFFFFF"/>
                </a:solidFill>
              </a:rPr>
              <a:t>Activity by Category</a:t>
            </a:r>
          </a:p>
        </p:txBody>
      </p:sp>
      <p:sp>
        <p:nvSpPr>
          <p:cNvPr id="6" name="Rectangle 5"/>
          <p:cNvSpPr/>
          <p:nvPr/>
        </p:nvSpPr>
        <p:spPr>
          <a:xfrm>
            <a:off x="365760" y="1325880"/>
            <a:ext cx="2651760" cy="4389120"/>
          </a:xfrm>
          <a:prstGeom prst="rect">
            <a:avLst/>
          </a:prstGeom>
          <a:solidFill>
            <a:srgbClr val="EFF6FF"/>
          </a:solidFill>
          <a:ln w="63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25880"/>
            <a:ext cx="265176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1399032"/>
            <a:ext cx="2432304" cy="365760"/>
          </a:xfrm>
          <a:prstGeom prst="rect">
            <a:avLst/>
          </a:prstGeom>
          <a:noFill/>
        </p:spPr>
        <p:txBody>
          <a:bodyPr wrap="none">
            <a:spAutoFit/>
          </a:bodyPr>
          <a:lstStyle/>
          <a:p>
            <a:r>
              <a:rPr sz="1100" b="1">
                <a:solidFill>
                  <a:srgbClr val="FFFFFF"/>
                </a:solidFill>
              </a:rPr>
              <a:t>Food &amp; Beverage</a:t>
            </a:r>
          </a:p>
        </p:txBody>
      </p:sp>
      <p:sp>
        <p:nvSpPr>
          <p:cNvPr id="9" name="TextBox 8"/>
          <p:cNvSpPr txBox="1"/>
          <p:nvPr/>
        </p:nvSpPr>
        <p:spPr>
          <a:xfrm>
            <a:off x="475488" y="1965960"/>
            <a:ext cx="2432304" cy="3611880"/>
          </a:xfrm>
          <a:prstGeom prst="rect">
            <a:avLst/>
          </a:prstGeom>
          <a:noFill/>
        </p:spPr>
        <p:txBody>
          <a:bodyPr wrap="square">
            <a:spAutoFit/>
          </a:bodyPr>
          <a:lstStyle/>
          <a:p/>
          <a:p>
            <a:pPr>
              <a:spcBef>
                <a:spcPts val="400"/>
              </a:spcBef>
            </a:pPr>
            <a:r>
              <a:rPr sz="950">
                <a:solidFill>
                  <a:srgbClr val="111827"/>
                </a:solidFill>
              </a:rPr>
              <a:t>• [{'company': 'Associated British Foods (ABF)', 'partner': 'Endless LLP', 'type': 'Merger', 'value': </a:t>
            </a:r>
          </a:p>
        </p:txBody>
      </p:sp>
      <p:sp>
        <p:nvSpPr>
          <p:cNvPr id="10" name="Rectangle 9"/>
          <p:cNvSpPr/>
          <p:nvPr/>
        </p:nvSpPr>
        <p:spPr>
          <a:xfrm>
            <a:off x="3337560" y="1325880"/>
            <a:ext cx="2651760" cy="4389120"/>
          </a:xfrm>
          <a:prstGeom prst="rect">
            <a:avLst/>
          </a:prstGeom>
          <a:solidFill>
            <a:srgbClr val="EFF6FF"/>
          </a:solidFill>
          <a:ln w="63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1325880"/>
            <a:ext cx="2651760" cy="5029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1399032"/>
            <a:ext cx="2432304" cy="365760"/>
          </a:xfrm>
          <a:prstGeom prst="rect">
            <a:avLst/>
          </a:prstGeom>
          <a:noFill/>
        </p:spPr>
        <p:txBody>
          <a:bodyPr wrap="none">
            <a:spAutoFit/>
          </a:bodyPr>
          <a:lstStyle/>
          <a:p>
            <a:r>
              <a:rPr sz="1100" b="1">
                <a:solidFill>
                  <a:srgbClr val="FFFFFF"/>
                </a:solidFill>
              </a:rPr>
              <a:t>Personal Care &amp; Beauty</a:t>
            </a:r>
          </a:p>
        </p:txBody>
      </p:sp>
      <p:sp>
        <p:nvSpPr>
          <p:cNvPr id="13" name="TextBox 12"/>
          <p:cNvSpPr txBox="1"/>
          <p:nvPr/>
        </p:nvSpPr>
        <p:spPr>
          <a:xfrm>
            <a:off x="3447288" y="1965960"/>
            <a:ext cx="2432304" cy="3611880"/>
          </a:xfrm>
          <a:prstGeom prst="rect">
            <a:avLst/>
          </a:prstGeom>
          <a:noFill/>
        </p:spPr>
        <p:txBody>
          <a:bodyPr wrap="square">
            <a:spAutoFit/>
          </a:bodyPr>
          <a:lstStyle/>
          <a:p/>
          <a:p>
            <a:pPr>
              <a:spcBef>
                <a:spcPts val="400"/>
              </a:spcBef>
            </a:pPr>
            <a:r>
              <a:rPr sz="950">
                <a:solidFill>
                  <a:srgbClr val="111827"/>
                </a:solidFill>
              </a:rPr>
              <a:t>• No deals reported this period</a:t>
            </a:r>
          </a:p>
        </p:txBody>
      </p:sp>
      <p:sp>
        <p:nvSpPr>
          <p:cNvPr id="14" name="Rectangle 13"/>
          <p:cNvSpPr/>
          <p:nvPr/>
        </p:nvSpPr>
        <p:spPr>
          <a:xfrm>
            <a:off x="6309360" y="1325880"/>
            <a:ext cx="2651760" cy="4389120"/>
          </a:xfrm>
          <a:prstGeom prst="rect">
            <a:avLst/>
          </a:prstGeom>
          <a:solidFill>
            <a:srgbClr val="EFF6FF"/>
          </a:solidFill>
          <a:ln w="63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325880"/>
            <a:ext cx="2651760" cy="502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399032"/>
            <a:ext cx="2432304" cy="365760"/>
          </a:xfrm>
          <a:prstGeom prst="rect">
            <a:avLst/>
          </a:prstGeom>
          <a:noFill/>
        </p:spPr>
        <p:txBody>
          <a:bodyPr wrap="none">
            <a:spAutoFit/>
          </a:bodyPr>
          <a:lstStyle/>
          <a:p>
            <a:r>
              <a:rPr sz="1100" b="1">
                <a:solidFill>
                  <a:srgbClr val="FFFFFF"/>
                </a:solidFill>
              </a:rPr>
              <a:t>Household Products</a:t>
            </a:r>
          </a:p>
        </p:txBody>
      </p:sp>
      <p:sp>
        <p:nvSpPr>
          <p:cNvPr id="17" name="TextBox 16"/>
          <p:cNvSpPr txBox="1"/>
          <p:nvPr/>
        </p:nvSpPr>
        <p:spPr>
          <a:xfrm>
            <a:off x="6419088" y="1965960"/>
            <a:ext cx="2432304" cy="3611880"/>
          </a:xfrm>
          <a:prstGeom prst="rect">
            <a:avLst/>
          </a:prstGeom>
          <a:noFill/>
        </p:spPr>
        <p:txBody>
          <a:bodyPr wrap="square">
            <a:spAutoFit/>
          </a:bodyPr>
          <a:lstStyle/>
          <a:p/>
          <a:p>
            <a:pPr>
              <a:spcBef>
                <a:spcPts val="400"/>
              </a:spcBef>
            </a:pPr>
            <a:r>
              <a:rPr sz="950">
                <a:solidFill>
                  <a:srgbClr val="111827"/>
                </a:solidFill>
              </a:rPr>
              <a:t>• No deals reported this period</a:t>
            </a:r>
          </a:p>
        </p:txBody>
      </p:sp>
      <p:sp>
        <p:nvSpPr>
          <p:cNvPr id="18" name="Rectangle 17"/>
          <p:cNvSpPr/>
          <p:nvPr/>
        </p:nvSpPr>
        <p:spPr>
          <a:xfrm>
            <a:off x="9281160" y="1325880"/>
            <a:ext cx="2651760" cy="4389120"/>
          </a:xfrm>
          <a:prstGeom prst="rect">
            <a:avLst/>
          </a:prstGeom>
          <a:solidFill>
            <a:srgbClr val="EFF6FF"/>
          </a:solidFill>
          <a:ln w="63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81160" y="1325880"/>
            <a:ext cx="2651760" cy="502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90888" y="1399032"/>
            <a:ext cx="2432304" cy="365760"/>
          </a:xfrm>
          <a:prstGeom prst="rect">
            <a:avLst/>
          </a:prstGeom>
          <a:noFill/>
        </p:spPr>
        <p:txBody>
          <a:bodyPr wrap="none">
            <a:spAutoFit/>
          </a:bodyPr>
          <a:lstStyle/>
          <a:p>
            <a:r>
              <a:rPr sz="1100" b="1">
                <a:solidFill>
                  <a:srgbClr val="FFFFFF"/>
                </a:solidFill>
              </a:rPr>
              <a:t>Other</a:t>
            </a:r>
          </a:p>
        </p:txBody>
      </p:sp>
      <p:sp>
        <p:nvSpPr>
          <p:cNvPr id="21" name="TextBox 20"/>
          <p:cNvSpPr txBox="1"/>
          <p:nvPr/>
        </p:nvSpPr>
        <p:spPr>
          <a:xfrm>
            <a:off x="9390888" y="1965960"/>
            <a:ext cx="2432304" cy="3611880"/>
          </a:xfrm>
          <a:prstGeom prst="rect">
            <a:avLst/>
          </a:prstGeom>
          <a:noFill/>
        </p:spPr>
        <p:txBody>
          <a:bodyPr wrap="square">
            <a:spAutoFit/>
          </a:bodyPr>
          <a:lstStyle/>
          <a:p/>
          <a:p>
            <a:pPr>
              <a:spcBef>
                <a:spcPts val="400"/>
              </a:spcBef>
            </a:pPr>
            <a:r>
              <a:rPr sz="950">
                <a:solidFill>
                  <a:srgbClr val="111827"/>
                </a:solidFill>
              </a:rPr>
              <a:t>• No deals reported this period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5669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4572000" cy="320040"/>
          </a:xfrm>
          <a:prstGeom prst="rect">
            <a:avLst/>
          </a:prstGeom>
          <a:noFill/>
        </p:spPr>
        <p:txBody>
          <a:bodyPr wrap="none">
            <a:spAutoFit/>
          </a:bodyPr>
          <a:lstStyle/>
          <a:p>
            <a:r>
              <a:rPr sz="1000" b="1">
                <a:solidFill>
                  <a:srgbClr val="06B6D4"/>
                </a:solidFill>
              </a:rPr>
              <a:t>04  /  DEALS TO WATCH</a:t>
            </a:r>
          </a:p>
        </p:txBody>
      </p:sp>
      <p:sp>
        <p:nvSpPr>
          <p:cNvPr id="5" name="TextBox 4"/>
          <p:cNvSpPr txBox="1"/>
          <p:nvPr/>
        </p:nvSpPr>
        <p:spPr>
          <a:xfrm>
            <a:off x="457200" y="502920"/>
            <a:ext cx="10972800" cy="594360"/>
          </a:xfrm>
          <a:prstGeom prst="rect">
            <a:avLst/>
          </a:prstGeom>
          <a:noFill/>
        </p:spPr>
        <p:txBody>
          <a:bodyPr wrap="none">
            <a:spAutoFit/>
          </a:bodyPr>
          <a:lstStyle/>
          <a:p>
            <a:r>
              <a:rPr sz="2800" b="1">
                <a:solidFill>
                  <a:srgbClr val="FFFFFF"/>
                </a:solidFill>
              </a:rPr>
              <a:t>Emerging Themes &amp; Situations</a:t>
            </a:r>
          </a:p>
        </p:txBody>
      </p:sp>
      <p:sp>
        <p:nvSpPr>
          <p:cNvPr id="6" name="Rectangle 5"/>
          <p:cNvSpPr/>
          <p:nvPr/>
        </p:nvSpPr>
        <p:spPr>
          <a:xfrm>
            <a:off x="457200" y="1508760"/>
            <a:ext cx="411480" cy="411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08760"/>
            <a:ext cx="411480" cy="411480"/>
          </a:xfrm>
          <a:prstGeom prst="rect">
            <a:avLst/>
          </a:prstGeom>
          <a:noFill/>
        </p:spPr>
        <p:txBody>
          <a:bodyPr wrap="none">
            <a:spAutoFit/>
          </a:bodyPr>
          <a:lstStyle/>
          <a:p>
            <a:pPr algn="ctr"/>
            <a:r>
              <a:rPr sz="1400" b="1">
                <a:solidFill>
                  <a:srgbClr val="FFFFFF"/>
                </a:solidFill>
              </a:rPr>
              <a:t>1</a:t>
            </a:r>
          </a:p>
        </p:txBody>
      </p:sp>
      <p:sp>
        <p:nvSpPr>
          <p:cNvPr id="8" name="TextBox 7"/>
          <p:cNvSpPr txBox="1"/>
          <p:nvPr/>
        </p:nvSpPr>
        <p:spPr>
          <a:xfrm>
            <a:off x="1005840" y="1463040"/>
            <a:ext cx="10607040" cy="594360"/>
          </a:xfrm>
          <a:prstGeom prst="rect">
            <a:avLst/>
          </a:prstGeom>
          <a:noFill/>
        </p:spPr>
        <p:txBody>
          <a:bodyPr wrap="square">
            <a:spAutoFit/>
          </a:bodyPr>
          <a:lstStyle/>
          <a:p>
            <a:r>
              <a:rPr sz="1250">
                <a:solidFill>
                  <a:srgbClr val="111827"/>
                </a:solidFill>
              </a:rPr>
              <a:t>Associated British Foods (ABF) and Endless LLP merger discussions.</a:t>
            </a:r>
          </a:p>
        </p:txBody>
      </p:sp>
      <p:sp>
        <p:nvSpPr>
          <p:cNvPr id="9" name="Rectangle 8"/>
          <p:cNvSpPr/>
          <p:nvPr/>
        </p:nvSpPr>
        <p:spPr>
          <a:xfrm>
            <a:off x="457200" y="2377440"/>
            <a:ext cx="4114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77440"/>
            <a:ext cx="411480" cy="411480"/>
          </a:xfrm>
          <a:prstGeom prst="rect">
            <a:avLst/>
          </a:prstGeom>
          <a:noFill/>
        </p:spPr>
        <p:txBody>
          <a:bodyPr wrap="none">
            <a:spAutoFit/>
          </a:bodyPr>
          <a:lstStyle/>
          <a:p>
            <a:pPr algn="ctr"/>
            <a:r>
              <a:rPr sz="1400" b="1">
                <a:solidFill>
                  <a:srgbClr val="FFFFFF"/>
                </a:solidFill>
              </a:rPr>
              <a:t>2</a:t>
            </a:r>
          </a:p>
        </p:txBody>
      </p:sp>
      <p:sp>
        <p:nvSpPr>
          <p:cNvPr id="11" name="TextBox 10"/>
          <p:cNvSpPr txBox="1"/>
          <p:nvPr/>
        </p:nvSpPr>
        <p:spPr>
          <a:xfrm>
            <a:off x="1005840" y="2331720"/>
            <a:ext cx="10607040" cy="594360"/>
          </a:xfrm>
          <a:prstGeom prst="rect">
            <a:avLst/>
          </a:prstGeom>
          <a:noFill/>
        </p:spPr>
        <p:txBody>
          <a:bodyPr wrap="square">
            <a:spAutoFit/>
          </a:bodyPr>
          <a:lstStyle/>
          <a:p>
            <a:r>
              <a:rPr sz="1250">
                <a:solidFill>
                  <a:srgbClr val="111827"/>
                </a:solidFill>
              </a:rPr>
              <a:t>Future moves by Kraft Heinz in the baby food segment.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172D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4572000" cy="320040"/>
          </a:xfrm>
          <a:prstGeom prst="rect">
            <a:avLst/>
          </a:prstGeom>
          <a:noFill/>
        </p:spPr>
        <p:txBody>
          <a:bodyPr wrap="none">
            <a:spAutoFit/>
          </a:bodyPr>
          <a:lstStyle/>
          <a:p>
            <a:r>
              <a:rPr sz="1000" b="1">
                <a:solidFill>
                  <a:srgbClr val="06B6D4"/>
                </a:solidFill>
              </a:rPr>
              <a:t>05  /  MARKET OUTLOOK</a:t>
            </a:r>
          </a:p>
        </p:txBody>
      </p:sp>
      <p:sp>
        <p:nvSpPr>
          <p:cNvPr id="5" name="TextBox 4"/>
          <p:cNvSpPr txBox="1"/>
          <p:nvPr/>
        </p:nvSpPr>
        <p:spPr>
          <a:xfrm>
            <a:off x="548640" y="822960"/>
            <a:ext cx="10972800" cy="731520"/>
          </a:xfrm>
          <a:prstGeom prst="rect">
            <a:avLst/>
          </a:prstGeom>
          <a:noFill/>
        </p:spPr>
        <p:txBody>
          <a:bodyPr wrap="none">
            <a:spAutoFit/>
          </a:bodyPr>
          <a:lstStyle/>
          <a:p>
            <a:r>
              <a:rPr sz="3600" b="1">
                <a:solidFill>
                  <a:srgbClr val="FFFFFF"/>
                </a:solidFill>
              </a:rPr>
              <a:t>What to Expect</a:t>
            </a:r>
          </a:p>
        </p:txBody>
      </p:sp>
      <p:sp>
        <p:nvSpPr>
          <p:cNvPr id="6" name="Rectangle 5"/>
          <p:cNvSpPr/>
          <p:nvPr/>
        </p:nvSpPr>
        <p:spPr>
          <a:xfrm>
            <a:off x="548640" y="1920240"/>
            <a:ext cx="73152" cy="2743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28800"/>
            <a:ext cx="10789920" cy="548640"/>
          </a:xfrm>
          <a:prstGeom prst="rect">
            <a:avLst/>
          </a:prstGeom>
          <a:noFill/>
        </p:spPr>
        <p:txBody>
          <a:bodyPr wrap="square">
            <a:spAutoFit/>
          </a:bodyPr>
          <a:lstStyle/>
          <a:p>
            <a:r>
              <a:rPr sz="1500">
                <a:solidFill>
                  <a:srgbClr val="D1E4FF"/>
                </a:solidFill>
              </a:rPr>
              <a:t>The FMCG sector is poised for continued M&amp;A activity as companies focus on growth and market share expansion through strategic acquisitions.</a:t>
            </a:r>
          </a:p>
        </p:txBody>
      </p:sp>
      <p:sp>
        <p:nvSpPr>
          <p:cNvPr id="8" name="Rectangle 7"/>
          <p:cNvSpPr/>
          <p:nvPr/>
        </p:nvSpPr>
        <p:spPr>
          <a:xfrm>
            <a:off x="548640" y="2606040"/>
            <a:ext cx="73152" cy="2743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14600"/>
            <a:ext cx="10789920" cy="548640"/>
          </a:xfrm>
          <a:prstGeom prst="rect">
            <a:avLst/>
          </a:prstGeom>
          <a:noFill/>
        </p:spPr>
        <p:txBody>
          <a:bodyPr wrap="square">
            <a:spAutoFit/>
          </a:bodyPr>
          <a:lstStyle/>
          <a:p>
            <a:r>
              <a:rPr sz="1500">
                <a:solidFill>
                  <a:srgbClr val="D1E4FF"/>
                </a:solidFill>
              </a:rPr>
              <a:t>The trend indicates a robust interest in consolidating brands within the food and beverage industry.</a:t>
            </a:r>
          </a:p>
        </p:txBody>
      </p:sp>
      <p:sp>
        <p:nvSpPr>
          <p:cNvPr id="10" name="TextBox 9"/>
          <p:cNvSpPr txBox="1"/>
          <p:nvPr/>
        </p:nvSpPr>
        <p:spPr>
          <a:xfrm>
            <a:off x="548640" y="5623560"/>
            <a:ext cx="9144000" cy="320040"/>
          </a:xfrm>
          <a:prstGeom prst="rect">
            <a:avLst/>
          </a:prstGeom>
          <a:noFill/>
        </p:spPr>
        <p:txBody>
          <a:bodyPr wrap="none">
            <a:spAutoFit/>
          </a:bodyPr>
          <a:lstStyle/>
          <a:p>
            <a:r>
              <a:rPr sz="900">
                <a:solidFill>
                  <a:srgbClr val="8B9BC0"/>
                </a:solidFill>
              </a:rPr>
              <a:t>FMCG M&amp;A Intelligence · April 2026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88952" cy="5669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4572000" cy="320040"/>
          </a:xfrm>
          <a:prstGeom prst="rect">
            <a:avLst/>
          </a:prstGeom>
          <a:noFill/>
        </p:spPr>
        <p:txBody>
          <a:bodyPr wrap="none">
            <a:spAutoFit/>
          </a:bodyPr>
          <a:lstStyle/>
          <a:p>
            <a:r>
              <a:rPr sz="1000" b="1">
                <a:solidFill>
                  <a:srgbClr val="06B6D4"/>
                </a:solidFill>
              </a:rPr>
              <a:t>APPENDIX  /  PIPELINE</a:t>
            </a:r>
          </a:p>
        </p:txBody>
      </p:sp>
      <p:sp>
        <p:nvSpPr>
          <p:cNvPr id="5" name="TextBox 4"/>
          <p:cNvSpPr txBox="1"/>
          <p:nvPr/>
        </p:nvSpPr>
        <p:spPr>
          <a:xfrm>
            <a:off x="457200" y="502920"/>
            <a:ext cx="10972800" cy="594360"/>
          </a:xfrm>
          <a:prstGeom prst="rect">
            <a:avLst/>
          </a:prstGeom>
          <a:noFill/>
        </p:spPr>
        <p:txBody>
          <a:bodyPr wrap="none">
            <a:spAutoFit/>
          </a:bodyPr>
          <a:lstStyle/>
          <a:p>
            <a:r>
              <a:rPr sz="2800" b="1">
                <a:solidFill>
                  <a:srgbClr val="FFFFFF"/>
                </a:solidFill>
              </a:rPr>
              <a:t>How the Pipeline Works</a:t>
            </a:r>
          </a:p>
        </p:txBody>
      </p:sp>
      <p:sp>
        <p:nvSpPr>
          <p:cNvPr id="6" name="Rectangle 5"/>
          <p:cNvSpPr/>
          <p:nvPr/>
        </p:nvSpPr>
        <p:spPr>
          <a:xfrm>
            <a:off x="274320" y="1463040"/>
            <a:ext cx="1783080" cy="228600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17830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536192"/>
            <a:ext cx="1636776" cy="365760"/>
          </a:xfrm>
          <a:prstGeom prst="rect">
            <a:avLst/>
          </a:prstGeom>
          <a:noFill/>
        </p:spPr>
        <p:txBody>
          <a:bodyPr wrap="none">
            <a:spAutoFit/>
          </a:bodyPr>
          <a:lstStyle/>
          <a:p>
            <a:r>
              <a:rPr sz="1000" b="1">
                <a:solidFill>
                  <a:srgbClr val="FFFFFF"/>
                </a:solidFill>
              </a:rPr>
              <a:t>1. Ingestion</a:t>
            </a:r>
          </a:p>
        </p:txBody>
      </p:sp>
      <p:sp>
        <p:nvSpPr>
          <p:cNvPr id="9" name="TextBox 8"/>
          <p:cNvSpPr txBox="1"/>
          <p:nvPr/>
        </p:nvSpPr>
        <p:spPr>
          <a:xfrm>
            <a:off x="347472" y="2057400"/>
            <a:ext cx="1636776" cy="365760"/>
          </a:xfrm>
          <a:prstGeom prst="rect">
            <a:avLst/>
          </a:prstGeom>
          <a:noFill/>
        </p:spPr>
        <p:txBody>
          <a:bodyPr wrap="none">
            <a:spAutoFit/>
          </a:bodyPr>
          <a:lstStyle/>
          <a:p>
            <a:r>
              <a:rPr sz="1300" b="1">
                <a:solidFill>
                  <a:srgbClr val="3B82F6"/>
                </a:solidFill>
              </a:rPr>
              <a:t>80 articles</a:t>
            </a:r>
          </a:p>
        </p:txBody>
      </p:sp>
      <p:sp>
        <p:nvSpPr>
          <p:cNvPr id="10" name="TextBox 9"/>
          <p:cNvSpPr txBox="1"/>
          <p:nvPr/>
        </p:nvSpPr>
        <p:spPr>
          <a:xfrm>
            <a:off x="347472" y="2514600"/>
            <a:ext cx="1636776" cy="1097280"/>
          </a:xfrm>
          <a:prstGeom prst="rect">
            <a:avLst/>
          </a:prstGeom>
          <a:noFill/>
        </p:spPr>
        <p:txBody>
          <a:bodyPr wrap="square">
            <a:spAutoFit/>
          </a:bodyPr>
          <a:lstStyle/>
          <a:p>
            <a:r>
              <a:rPr sz="900">
                <a:solidFill>
                  <a:srgbClr val="6B7280"/>
                </a:solidFill>
              </a:rPr>
              <a:t>Tavily Search · 11 dynamic queries · 30-day window</a:t>
            </a:r>
          </a:p>
        </p:txBody>
      </p:sp>
      <p:sp>
        <p:nvSpPr>
          <p:cNvPr id="11" name="TextBox 10"/>
          <p:cNvSpPr txBox="1"/>
          <p:nvPr/>
        </p:nvSpPr>
        <p:spPr>
          <a:xfrm>
            <a:off x="2057400" y="2377440"/>
            <a:ext cx="228600" cy="365760"/>
          </a:xfrm>
          <a:prstGeom prst="rect">
            <a:avLst/>
          </a:prstGeom>
          <a:noFill/>
        </p:spPr>
        <p:txBody>
          <a:bodyPr wrap="none">
            <a:spAutoFit/>
          </a:bodyPr>
          <a:lstStyle/>
          <a:p>
            <a:pPr algn="ctr"/>
            <a:r>
              <a:rPr sz="1600" b="1">
                <a:solidFill>
                  <a:srgbClr val="3B82F6"/>
                </a:solidFill>
              </a:rPr>
              <a:t>&gt;</a:t>
            </a:r>
          </a:p>
        </p:txBody>
      </p:sp>
      <p:sp>
        <p:nvSpPr>
          <p:cNvPr id="12" name="Rectangle 11"/>
          <p:cNvSpPr/>
          <p:nvPr/>
        </p:nvSpPr>
        <p:spPr>
          <a:xfrm>
            <a:off x="2286000" y="1463040"/>
            <a:ext cx="1783080" cy="228600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0" y="1463040"/>
            <a:ext cx="17830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59152" y="1536192"/>
            <a:ext cx="1636776" cy="365760"/>
          </a:xfrm>
          <a:prstGeom prst="rect">
            <a:avLst/>
          </a:prstGeom>
          <a:noFill/>
        </p:spPr>
        <p:txBody>
          <a:bodyPr wrap="none">
            <a:spAutoFit/>
          </a:bodyPr>
          <a:lstStyle/>
          <a:p>
            <a:r>
              <a:rPr sz="1000" b="1">
                <a:solidFill>
                  <a:srgbClr val="FFFFFF"/>
                </a:solidFill>
              </a:rPr>
              <a:t>2. Deduplication</a:t>
            </a:r>
          </a:p>
        </p:txBody>
      </p:sp>
      <p:sp>
        <p:nvSpPr>
          <p:cNvPr id="15" name="TextBox 14"/>
          <p:cNvSpPr txBox="1"/>
          <p:nvPr/>
        </p:nvSpPr>
        <p:spPr>
          <a:xfrm>
            <a:off x="2359152" y="2057400"/>
            <a:ext cx="1636776" cy="365760"/>
          </a:xfrm>
          <a:prstGeom prst="rect">
            <a:avLst/>
          </a:prstGeom>
          <a:noFill/>
        </p:spPr>
        <p:txBody>
          <a:bodyPr wrap="none">
            <a:spAutoFit/>
          </a:bodyPr>
          <a:lstStyle/>
          <a:p>
            <a:r>
              <a:rPr sz="1300" b="1">
                <a:solidFill>
                  <a:srgbClr val="3B82F6"/>
                </a:solidFill>
              </a:rPr>
              <a:t>Jaccard &gt;70%</a:t>
            </a:r>
          </a:p>
        </p:txBody>
      </p:sp>
      <p:sp>
        <p:nvSpPr>
          <p:cNvPr id="16" name="TextBox 15"/>
          <p:cNvSpPr txBox="1"/>
          <p:nvPr/>
        </p:nvSpPr>
        <p:spPr>
          <a:xfrm>
            <a:off x="2359152" y="2514600"/>
            <a:ext cx="1636776" cy="1097280"/>
          </a:xfrm>
          <a:prstGeom prst="rect">
            <a:avLst/>
          </a:prstGeom>
          <a:noFill/>
        </p:spPr>
        <p:txBody>
          <a:bodyPr wrap="square">
            <a:spAutoFit/>
          </a:bodyPr>
          <a:lstStyle/>
          <a:p>
            <a:r>
              <a:rPr sz="900">
                <a:solidFill>
                  <a:srgbClr val="6B7280"/>
                </a:solidFill>
              </a:rPr>
              <a:t>Title word-set overlap · near-duplicates removed</a:t>
            </a:r>
          </a:p>
        </p:txBody>
      </p:sp>
      <p:sp>
        <p:nvSpPr>
          <p:cNvPr id="17" name="TextBox 16"/>
          <p:cNvSpPr txBox="1"/>
          <p:nvPr/>
        </p:nvSpPr>
        <p:spPr>
          <a:xfrm>
            <a:off x="4069080" y="2377440"/>
            <a:ext cx="228600" cy="365760"/>
          </a:xfrm>
          <a:prstGeom prst="rect">
            <a:avLst/>
          </a:prstGeom>
          <a:noFill/>
        </p:spPr>
        <p:txBody>
          <a:bodyPr wrap="none">
            <a:spAutoFit/>
          </a:bodyPr>
          <a:lstStyle/>
          <a:p>
            <a:pPr algn="ctr"/>
            <a:r>
              <a:rPr sz="1600" b="1">
                <a:solidFill>
                  <a:srgbClr val="3B82F6"/>
                </a:solidFill>
              </a:rPr>
              <a:t>&gt;</a:t>
            </a:r>
          </a:p>
        </p:txBody>
      </p:sp>
      <p:sp>
        <p:nvSpPr>
          <p:cNvPr id="18" name="Rectangle 17"/>
          <p:cNvSpPr/>
          <p:nvPr/>
        </p:nvSpPr>
        <p:spPr>
          <a:xfrm>
            <a:off x="4297680" y="1463040"/>
            <a:ext cx="1783080" cy="228600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463040"/>
            <a:ext cx="17830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0832" y="1536192"/>
            <a:ext cx="1636776" cy="365760"/>
          </a:xfrm>
          <a:prstGeom prst="rect">
            <a:avLst/>
          </a:prstGeom>
          <a:noFill/>
        </p:spPr>
        <p:txBody>
          <a:bodyPr wrap="none">
            <a:spAutoFit/>
          </a:bodyPr>
          <a:lstStyle/>
          <a:p>
            <a:r>
              <a:rPr sz="1000" b="1">
                <a:solidFill>
                  <a:srgbClr val="FFFFFF"/>
                </a:solidFill>
              </a:rPr>
              <a:t>3. Relevance Filter</a:t>
            </a:r>
          </a:p>
        </p:txBody>
      </p:sp>
      <p:sp>
        <p:nvSpPr>
          <p:cNvPr id="21" name="TextBox 20"/>
          <p:cNvSpPr txBox="1"/>
          <p:nvPr/>
        </p:nvSpPr>
        <p:spPr>
          <a:xfrm>
            <a:off x="4370832" y="2057400"/>
            <a:ext cx="1636776" cy="365760"/>
          </a:xfrm>
          <a:prstGeom prst="rect">
            <a:avLst/>
          </a:prstGeom>
          <a:noFill/>
        </p:spPr>
        <p:txBody>
          <a:bodyPr wrap="none">
            <a:spAutoFit/>
          </a:bodyPr>
          <a:lstStyle/>
          <a:p>
            <a:r>
              <a:rPr sz="1300" b="1">
                <a:solidFill>
                  <a:srgbClr val="3B82F6"/>
                </a:solidFill>
              </a:rPr>
              <a:t>Score ≥ 0.15</a:t>
            </a:r>
          </a:p>
        </p:txBody>
      </p:sp>
      <p:sp>
        <p:nvSpPr>
          <p:cNvPr id="22" name="TextBox 21"/>
          <p:cNvSpPr txBox="1"/>
          <p:nvPr/>
        </p:nvSpPr>
        <p:spPr>
          <a:xfrm>
            <a:off x="4370832" y="2514600"/>
            <a:ext cx="1636776" cy="1097280"/>
          </a:xfrm>
          <a:prstGeom prst="rect">
            <a:avLst/>
          </a:prstGeom>
          <a:noFill/>
        </p:spPr>
        <p:txBody>
          <a:bodyPr wrap="square">
            <a:spAutoFit/>
          </a:bodyPr>
          <a:lstStyle/>
          <a:p>
            <a:r>
              <a:rPr sz="900">
                <a:solidFill>
                  <a:srgbClr val="6B7280"/>
                </a:solidFill>
              </a:rPr>
              <a:t>FMCG + deal keywords · weighted density scoring</a:t>
            </a:r>
          </a:p>
        </p:txBody>
      </p:sp>
      <p:sp>
        <p:nvSpPr>
          <p:cNvPr id="23" name="TextBox 22"/>
          <p:cNvSpPr txBox="1"/>
          <p:nvPr/>
        </p:nvSpPr>
        <p:spPr>
          <a:xfrm>
            <a:off x="6080760" y="2377440"/>
            <a:ext cx="228600" cy="365760"/>
          </a:xfrm>
          <a:prstGeom prst="rect">
            <a:avLst/>
          </a:prstGeom>
          <a:noFill/>
        </p:spPr>
        <p:txBody>
          <a:bodyPr wrap="none">
            <a:spAutoFit/>
          </a:bodyPr>
          <a:lstStyle/>
          <a:p>
            <a:pPr algn="ctr"/>
            <a:r>
              <a:rPr sz="1600" b="1">
                <a:solidFill>
                  <a:srgbClr val="3B82F6"/>
                </a:solidFill>
              </a:rPr>
              <a:t>&gt;</a:t>
            </a:r>
          </a:p>
        </p:txBody>
      </p:sp>
      <p:sp>
        <p:nvSpPr>
          <p:cNvPr id="24" name="Rectangle 23"/>
          <p:cNvSpPr/>
          <p:nvPr/>
        </p:nvSpPr>
        <p:spPr>
          <a:xfrm>
            <a:off x="6309360" y="1463040"/>
            <a:ext cx="1783080" cy="228600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1463040"/>
            <a:ext cx="17830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82512" y="1536192"/>
            <a:ext cx="1636776" cy="365760"/>
          </a:xfrm>
          <a:prstGeom prst="rect">
            <a:avLst/>
          </a:prstGeom>
          <a:noFill/>
        </p:spPr>
        <p:txBody>
          <a:bodyPr wrap="none">
            <a:spAutoFit/>
          </a:bodyPr>
          <a:lstStyle/>
          <a:p>
            <a:r>
              <a:rPr sz="1000" b="1">
                <a:solidFill>
                  <a:srgbClr val="FFFFFF"/>
                </a:solidFill>
              </a:rPr>
              <a:t>4. Credibility Check</a:t>
            </a:r>
          </a:p>
        </p:txBody>
      </p:sp>
      <p:sp>
        <p:nvSpPr>
          <p:cNvPr id="27" name="TextBox 26"/>
          <p:cNvSpPr txBox="1"/>
          <p:nvPr/>
        </p:nvSpPr>
        <p:spPr>
          <a:xfrm>
            <a:off x="6382512" y="2057400"/>
            <a:ext cx="1636776" cy="365760"/>
          </a:xfrm>
          <a:prstGeom prst="rect">
            <a:avLst/>
          </a:prstGeom>
          <a:noFill/>
        </p:spPr>
        <p:txBody>
          <a:bodyPr wrap="none">
            <a:spAutoFit/>
          </a:bodyPr>
          <a:lstStyle/>
          <a:p>
            <a:r>
              <a:rPr sz="1300" b="1">
                <a:solidFill>
                  <a:srgbClr val="3B82F6"/>
                </a:solidFill>
              </a:rPr>
              <a:t>16 pass</a:t>
            </a:r>
          </a:p>
        </p:txBody>
      </p:sp>
      <p:sp>
        <p:nvSpPr>
          <p:cNvPr id="28" name="TextBox 27"/>
          <p:cNvSpPr txBox="1"/>
          <p:nvPr/>
        </p:nvSpPr>
        <p:spPr>
          <a:xfrm>
            <a:off x="6382512" y="2514600"/>
            <a:ext cx="1636776" cy="1097280"/>
          </a:xfrm>
          <a:prstGeom prst="rect">
            <a:avLst/>
          </a:prstGeom>
          <a:noFill/>
        </p:spPr>
        <p:txBody>
          <a:bodyPr wrap="square">
            <a:spAutoFit/>
          </a:bodyPr>
          <a:lstStyle/>
          <a:p>
            <a:r>
              <a:rPr sz="900">
                <a:solidFill>
                  <a:srgbClr val="6B7280"/>
                </a:solidFill>
              </a:rPr>
              <a:t>33-domain trust map · social media blocked</a:t>
            </a:r>
          </a:p>
        </p:txBody>
      </p:sp>
      <p:sp>
        <p:nvSpPr>
          <p:cNvPr id="29" name="TextBox 28"/>
          <p:cNvSpPr txBox="1"/>
          <p:nvPr/>
        </p:nvSpPr>
        <p:spPr>
          <a:xfrm>
            <a:off x="8092440" y="2377440"/>
            <a:ext cx="228600" cy="365760"/>
          </a:xfrm>
          <a:prstGeom prst="rect">
            <a:avLst/>
          </a:prstGeom>
          <a:noFill/>
        </p:spPr>
        <p:txBody>
          <a:bodyPr wrap="none">
            <a:spAutoFit/>
          </a:bodyPr>
          <a:lstStyle/>
          <a:p>
            <a:pPr algn="ctr"/>
            <a:r>
              <a:rPr sz="1600" b="1">
                <a:solidFill>
                  <a:srgbClr val="3B82F6"/>
                </a:solidFill>
              </a:rPr>
              <a:t>&gt;</a:t>
            </a:r>
          </a:p>
        </p:txBody>
      </p:sp>
      <p:sp>
        <p:nvSpPr>
          <p:cNvPr id="30" name="Rectangle 29"/>
          <p:cNvSpPr/>
          <p:nvPr/>
        </p:nvSpPr>
        <p:spPr>
          <a:xfrm>
            <a:off x="8321040" y="1463040"/>
            <a:ext cx="1783080" cy="228600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1463040"/>
            <a:ext cx="17830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94192" y="1536192"/>
            <a:ext cx="1636776" cy="365760"/>
          </a:xfrm>
          <a:prstGeom prst="rect">
            <a:avLst/>
          </a:prstGeom>
          <a:noFill/>
        </p:spPr>
        <p:txBody>
          <a:bodyPr wrap="none">
            <a:spAutoFit/>
          </a:bodyPr>
          <a:lstStyle/>
          <a:p>
            <a:r>
              <a:rPr sz="1000" b="1">
                <a:solidFill>
                  <a:srgbClr val="FFFFFF"/>
                </a:solidFill>
              </a:rPr>
              <a:t>5. Enrichment</a:t>
            </a:r>
          </a:p>
        </p:txBody>
      </p:sp>
      <p:sp>
        <p:nvSpPr>
          <p:cNvPr id="33" name="TextBox 32"/>
          <p:cNvSpPr txBox="1"/>
          <p:nvPr/>
        </p:nvSpPr>
        <p:spPr>
          <a:xfrm>
            <a:off x="8394192" y="2057400"/>
            <a:ext cx="1636776" cy="365760"/>
          </a:xfrm>
          <a:prstGeom prst="rect">
            <a:avLst/>
          </a:prstGeom>
          <a:noFill/>
        </p:spPr>
        <p:txBody>
          <a:bodyPr wrap="none">
            <a:spAutoFit/>
          </a:bodyPr>
          <a:lstStyle/>
          <a:p>
            <a:r>
              <a:rPr sz="1300" b="1">
                <a:solidFill>
                  <a:srgbClr val="3B82F6"/>
                </a:solidFill>
              </a:rPr>
              <a:t>LLM extract</a:t>
            </a:r>
          </a:p>
        </p:txBody>
      </p:sp>
      <p:sp>
        <p:nvSpPr>
          <p:cNvPr id="34" name="TextBox 33"/>
          <p:cNvSpPr txBox="1"/>
          <p:nvPr/>
        </p:nvSpPr>
        <p:spPr>
          <a:xfrm>
            <a:off x="8394192" y="2514600"/>
            <a:ext cx="1636776" cy="1097280"/>
          </a:xfrm>
          <a:prstGeom prst="rect">
            <a:avLst/>
          </a:prstGeom>
          <a:noFill/>
        </p:spPr>
        <p:txBody>
          <a:bodyPr wrap="square">
            <a:spAutoFit/>
          </a:bodyPr>
          <a:lstStyle/>
          <a:p>
            <a:r>
              <a:rPr sz="900">
                <a:solidFill>
                  <a:srgbClr val="6B7280"/>
                </a:solidFill>
              </a:rPr>
              <a:t>Claude: deal type · companies · deal value</a:t>
            </a:r>
          </a:p>
        </p:txBody>
      </p:sp>
      <p:sp>
        <p:nvSpPr>
          <p:cNvPr id="35" name="TextBox 34"/>
          <p:cNvSpPr txBox="1"/>
          <p:nvPr/>
        </p:nvSpPr>
        <p:spPr>
          <a:xfrm>
            <a:off x="10104120" y="2377440"/>
            <a:ext cx="228600" cy="365760"/>
          </a:xfrm>
          <a:prstGeom prst="rect">
            <a:avLst/>
          </a:prstGeom>
          <a:noFill/>
        </p:spPr>
        <p:txBody>
          <a:bodyPr wrap="none">
            <a:spAutoFit/>
          </a:bodyPr>
          <a:lstStyle/>
          <a:p>
            <a:pPr algn="ctr"/>
            <a:r>
              <a:rPr sz="1600" b="1">
                <a:solidFill>
                  <a:srgbClr val="3B82F6"/>
                </a:solidFill>
              </a:rPr>
              <a:t>&gt;</a:t>
            </a:r>
          </a:p>
        </p:txBody>
      </p:sp>
      <p:sp>
        <p:nvSpPr>
          <p:cNvPr id="36" name="Rectangle 35"/>
          <p:cNvSpPr/>
          <p:nvPr/>
        </p:nvSpPr>
        <p:spPr>
          <a:xfrm>
            <a:off x="10332720" y="1463040"/>
            <a:ext cx="1783080" cy="2286000"/>
          </a:xfrm>
          <a:prstGeom prst="rect">
            <a:avLst/>
          </a:prstGeom>
          <a:solidFill>
            <a:srgbClr val="EFF6FF"/>
          </a:solidFill>
          <a:ln w="635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332720" y="1463040"/>
            <a:ext cx="17830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05872" y="1536192"/>
            <a:ext cx="1636776" cy="365760"/>
          </a:xfrm>
          <a:prstGeom prst="rect">
            <a:avLst/>
          </a:prstGeom>
          <a:noFill/>
        </p:spPr>
        <p:txBody>
          <a:bodyPr wrap="none">
            <a:spAutoFit/>
          </a:bodyPr>
          <a:lstStyle/>
          <a:p>
            <a:r>
              <a:rPr sz="1000" b="1">
                <a:solidFill>
                  <a:srgbClr val="FFFFFF"/>
                </a:solidFill>
              </a:rPr>
              <a:t>6. Newsletter</a:t>
            </a:r>
          </a:p>
        </p:txBody>
      </p:sp>
      <p:sp>
        <p:nvSpPr>
          <p:cNvPr id="39" name="TextBox 38"/>
          <p:cNvSpPr txBox="1"/>
          <p:nvPr/>
        </p:nvSpPr>
        <p:spPr>
          <a:xfrm>
            <a:off x="10405872" y="2057400"/>
            <a:ext cx="1636776" cy="365760"/>
          </a:xfrm>
          <a:prstGeom prst="rect">
            <a:avLst/>
          </a:prstGeom>
          <a:noFill/>
        </p:spPr>
        <p:txBody>
          <a:bodyPr wrap="none">
            <a:spAutoFit/>
          </a:bodyPr>
          <a:lstStyle/>
          <a:p>
            <a:r>
              <a:rPr sz="1300" b="1">
                <a:solidFill>
                  <a:srgbClr val="3B82F6"/>
                </a:solidFill>
              </a:rPr>
              <a:t>5 sections</a:t>
            </a:r>
          </a:p>
        </p:txBody>
      </p:sp>
      <p:sp>
        <p:nvSpPr>
          <p:cNvPr id="40" name="TextBox 39"/>
          <p:cNvSpPr txBox="1"/>
          <p:nvPr/>
        </p:nvSpPr>
        <p:spPr>
          <a:xfrm>
            <a:off x="10405872" y="2514600"/>
            <a:ext cx="1636776" cy="1097280"/>
          </a:xfrm>
          <a:prstGeom prst="rect">
            <a:avLst/>
          </a:prstGeom>
          <a:noFill/>
        </p:spPr>
        <p:txBody>
          <a:bodyPr wrap="square">
            <a:spAutoFit/>
          </a:bodyPr>
          <a:lstStyle/>
          <a:p>
            <a:r>
              <a:rPr sz="900">
                <a:solidFill>
                  <a:srgbClr val="6B7280"/>
                </a:solidFill>
              </a:rPr>
              <a:t>Bloomberg-style brief · factual · named companies</a:t>
            </a:r>
          </a:p>
        </p:txBody>
      </p:sp>
      <p:sp>
        <p:nvSpPr>
          <p:cNvPr id="41" name="TextBox 40"/>
          <p:cNvSpPr txBox="1"/>
          <p:nvPr/>
        </p:nvSpPr>
        <p:spPr>
          <a:xfrm>
            <a:off x="274320" y="3931920"/>
            <a:ext cx="11612880" cy="2560320"/>
          </a:xfrm>
          <a:prstGeom prst="rect">
            <a:avLst/>
          </a:prstGeom>
          <a:noFill/>
        </p:spPr>
        <p:txBody>
          <a:bodyPr wrap="square">
            <a:spAutoFit/>
          </a:bodyPr>
          <a:lstStyle/>
          <a:p/>
          <a:p>
            <a:pPr algn="l">
              <a:spcBef>
                <a:spcPts val="0"/>
              </a:spcBef>
            </a:pPr>
            <a:r>
              <a:rPr sz="1000" b="1" i="0">
                <a:solidFill>
                  <a:srgbClr val="1E3A8A"/>
                </a:solidFill>
              </a:rPr>
              <a:t>Credibility Scoring — Transparent Assumptions</a:t>
            </a:r>
          </a:p>
          <a:p>
            <a:pPr algn="l">
              <a:spcBef>
                <a:spcPts val="0"/>
              </a:spcBef>
            </a:pPr>
            <a:r>
              <a:rPr sz="900" b="0" i="0">
                <a:solidFill>
                  <a:srgbClr val="6B7280"/>
                </a:solidFill>
              </a:rPr>
              <a:t>Reuters/Bloomberg: 0.95  ·  WSJ/FT: 0.92  ·  CNBC: 0.90  ·  Forbes: 0.88  ·  Wire services: 0.85–0.88</a:t>
            </a:r>
          </a:p>
          <a:p>
            <a:pPr algn="l">
              <a:spcBef>
                <a:spcPts val="0"/>
              </a:spcBef>
            </a:pPr>
            <a:r>
              <a:rPr sz="900" b="0" i="0">
                <a:solidFill>
                  <a:srgbClr val="6B7280"/>
                </a:solidFill>
              </a:rPr>
              <a:t>FMCG trade press (fooddive, grocerygazette, just-food): 0.78–0.80  ·  Advisory sites: 0.65–0.76  ·  Unknown: 0.46  ·  Social media: 0.20</a:t>
            </a:r>
          </a:p>
          <a:p>
            <a:pPr algn="l">
              <a:spcBef>
                <a:spcPts val="0"/>
              </a:spcBef>
            </a:pPr>
            <a:r>
              <a:rPr sz="900" b="0" i="1">
                <a:solidFill>
                  <a:srgbClr val="6B7280"/>
                </a:solidFill>
              </a:rPr>
              <a:t>Threshold: score &gt; 0.45 to pass. Social media always blocked regardless of relevance score.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